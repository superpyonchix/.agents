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1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6" y="273050"/>
            <a:ext cx="401112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80" y="273050"/>
            <a:ext cx="681573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6" y="1435100"/>
            <a:ext cx="401112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40" y="4800600"/>
            <a:ext cx="7315272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40" y="612775"/>
            <a:ext cx="7315272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40" y="5367338"/>
            <a:ext cx="7315272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87" y="274638"/>
            <a:ext cx="2743227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6" y="274638"/>
            <a:ext cx="802647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6" y="274638"/>
            <a:ext cx="1097290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600200"/>
            <a:ext cx="1097290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游ゴシック"/>
                <a:ea typeface="游ゴシック"/>
              </a:rPr>
              <a:t>第3四半期の不具合報告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游ゴシック"/>
                <a:ea typeface="游ゴシック"/>
              </a:rPr>
              <a:t>不具合は 3 件に減った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游ゴシック"/>
                <a:ea typeface="游ゴシック"/>
              </a:rPr>
              <a:t>9月末の未解決は 3 件（前期末 11 件）</a:t>
            </a:r>
          </a:p>
          <a:p>
            <a:r>
              <a:rPr>
                <a:latin typeface="游ゴシック"/>
                <a:ea typeface="游ゴシック"/>
              </a:rPr>
              <a:t>3 件とも担当者と期限が決まっている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游ゴシック"/>
                <a:ea typeface="游ゴシック"/>
              </a:rPr>
              <a:t>（下書き）没にした案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游ゴシック"/>
                <a:ea typeface="游ゴシック"/>
              </a:rPr>
              <a:t>残課題の一覧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800000"/>
          <a:ext cx="7920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0000"/>
                <a:gridCol w="2640000"/>
                <a:gridCol w="2640000"/>
              </a:tblGrid>
              <a:tr h="810000">
                <a:tc>
                  <a:txBody>
                    <a:bodyPr/>
                    <a:lstStyle/>
                    <a:p>
                      <a:r>
                        <a:rPr>
                          <a:latin typeface="游ゴシック"/>
                          <a:ea typeface="游ゴシック"/>
                        </a:rPr>
                        <a:t>番号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游ゴシック"/>
                          <a:ea typeface="游ゴシック"/>
                        </a:rPr>
                        <a:t>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游ゴシック"/>
                          <a:ea typeface="游ゴシック"/>
                        </a:rPr>
                        <a:t>期限</a:t>
                      </a:r>
                    </a:p>
                  </a:txBody>
                  <a:tcPr/>
                </a:tc>
              </a:tr>
              <a:tr h="810000">
                <a:tc>
                  <a:txBody>
                    <a:bodyPr/>
                    <a:lstStyle/>
                    <a:p>
                      <a:r>
                        <a:rPr>
                          <a:latin typeface="游ゴシック"/>
                          <a:ea typeface="游ゴシック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游ゴシック"/>
                          <a:ea typeface="游ゴシック"/>
                        </a:rPr>
                        <a:t>起動時に設定が消える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游ゴシック"/>
                          <a:ea typeface="游ゴシック"/>
                        </a:rPr>
                        <a:t>11/5</a:t>
                      </a:r>
                    </a:p>
                  </a:txBody>
                  <a:tcPr/>
                </a:tc>
              </a:tr>
              <a:tr h="810000">
                <a:tc>
                  <a:txBody>
                    <a:bodyPr/>
                    <a:lstStyle/>
                    <a:p>
                      <a:r>
                        <a:rPr>
                          <a:latin typeface="游ゴシック"/>
                          <a:ea typeface="游ゴシック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游ゴシック"/>
                          <a:ea typeface="游ゴシック"/>
                        </a:rPr>
                        <a:t>印刷の余白がずれる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游ゴシック"/>
                          <a:ea typeface="游ゴシック"/>
                        </a:rPr>
                        <a:t>11/12</a:t>
                      </a:r>
                    </a:p>
                  </a:txBody>
                  <a:tcPr/>
                </a:tc>
              </a:tr>
              <a:tr h="810000">
                <a:tc>
                  <a:txBody>
                    <a:bodyPr/>
                    <a:lstStyle/>
                    <a:p>
                      <a:r>
                        <a:rPr>
                          <a:latin typeface="游ゴシック"/>
                          <a:ea typeface="游ゴシック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游ゴシック"/>
                          <a:ea typeface="游ゴシック"/>
                        </a:rPr>
                        <a:t>ログが重複する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游ゴシック"/>
                          <a:ea typeface="游ゴシック"/>
                        </a:rPr>
                        <a:t>11/19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80000" y="4320000"/>
            <a:ext cx="43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latin typeface="游ゴシック"/>
                <a:ea typeface="游ゴシック"/>
              </a:rPr>
              <a:t>期限はすべて開発会議で合意済み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游ゴシック"/>
                <a:ea typeface="游ゴシック"/>
              </a:rPr>
              <a:t>再発防止の取り組み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游ゴシック"/>
                <a:ea typeface="游ゴシック"/>
              </a:rPr>
              <a:t>設定の保存処理に単体テストを追加し、起動と終了を千回繰り返す試験を夜間に自動で回す</a:t>
            </a:r>
          </a:p>
          <a:p>
            <a:r>
              <a:rPr>
                <a:latin typeface="游ゴシック"/>
                <a:ea typeface="游ゴシック"/>
              </a:rPr>
              <a:t>印刷はプリンタごとの余白の差をテンプレートに持たせ、機種を追加するたびに見本を印刷して確かめる</a:t>
            </a:r>
          </a:p>
          <a:p>
            <a:r>
              <a:rPr>
                <a:latin typeface="游ゴシック"/>
                <a:ea typeface="游ゴシック"/>
              </a:rPr>
              <a:t>ログ出力は呼び出し元を一か所にまとめ、重複して出していた古い経路を次の版で取り除く</a:t>
            </a:r>
          </a:p>
          <a:p>
            <a:r>
              <a:rPr>
                <a:latin typeface="游ゴシック"/>
                <a:ea typeface="游ゴシック"/>
              </a:rPr>
              <a:t>週次のレビューで新しく見つかった不具合の原因を分類し、同じ種類が二件続いたら設計を見直す</a:t>
            </a:r>
          </a:p>
          <a:p>
            <a:r>
              <a:rPr>
                <a:latin typeface="游ゴシック"/>
                <a:ea typeface="游ゴシック"/>
              </a:rPr>
              <a:t>利用者からの問い合わせを不具合票に結び付け、再現手順が書けないものは翌日までに聞き取る</a:t>
            </a:r>
          </a:p>
          <a:p>
            <a:r>
              <a:rPr>
                <a:latin typeface="游ゴシック"/>
                <a:ea typeface="游ゴシック"/>
              </a:rPr>
              <a:t>リリース前の確認表に今回の三件を加え、担当者が署名してから出荷する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